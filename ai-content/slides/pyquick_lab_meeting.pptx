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108960"/>
            <a:ext cx="2926080" cy="292608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4" name="Shape 2"/>
          <p:cNvSpPr/>
          <p:nvPr/>
        </p:nvSpPr>
        <p:spPr>
          <a:xfrm>
            <a:off x="10378440" y="2788920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6596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pyquick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94360" y="3200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interface to QUICK for ML dataset generation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chemistry, one import away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   ·   [ Group ]   ·   [ Date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pyquick?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for chemistry needs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models for drug design and materials means large sets of molecules labeled with quantum-chemistry properties — energies, forces, charges.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862072"/>
            <a:ext cx="457200" cy="45720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277063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is a fast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18104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GPU-accelerated ab-initio quantum-chemistry code — well suited to generating that data at scale.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941064"/>
            <a:ext cx="457200" cy="45720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384962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…but it is a Fortran CLI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197096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text input files and parse text output. Awkward to script, easy to get subtly wrong.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3364992" cy="2286000"/>
          </a:xfrm>
          <a:prstGeom prst="roundRect">
            <a:avLst>
              <a:gd name="adj" fmla="val 3600"/>
            </a:avLst>
          </a:prstGeom>
          <a:solidFill>
            <a:srgbClr val="10233A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20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QC calculation, in one line: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58200" y="2395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atoms + 3-D positions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200" y="3063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· forces · charges · orbitals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539496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no clean, programmatic Python access to QUICK  →  pyquick.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pyquick is — and isn't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f2py Python bindings around QUICK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— no input files, no output parsing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Single-molecule: energy · gradient · geometry-opt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plain floats + NumPy arrays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scripting and notebooks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71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SLURM job orchestration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/ dataset framework (BatchRunner)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reimplementation of QUICK's science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exposes QUICK, doesn't replace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548640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automate large-scale dataset generation for machine learning.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three thin layers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7955280" cy="9144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0E6BA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92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 ·  Python script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34840" y="2624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7955280" cy="9144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880360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1B9AA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900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364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 ·  Result   (PyQuick low-level engine)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3721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7955280" cy="9144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977640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0E6BA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873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Fortran binding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4622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pyquick.f90   —   f2py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34840" y="48188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5074920"/>
            <a:ext cx="7955280" cy="9144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5074920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10233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84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 ·  libquick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5559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  ·  gradients  ·  GPU acceleration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869680" y="1783080"/>
            <a:ext cx="2743200" cy="4389120"/>
          </a:xfrm>
          <a:prstGeom prst="roundRect">
            <a:avLst>
              <a:gd name="adj" fmla="val 3000"/>
            </a:avLst>
          </a:prstGeom>
          <a:solidFill>
            <a:srgbClr val="10233A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21488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In-memory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directions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98280" y="3063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098280" y="38404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 files.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output-text parsing.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in a few lines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7040880" cy="3611880"/>
          </a:xfrm>
          <a:prstGeom prst="roundRect">
            <a:avLst>
              <a:gd name="adj" fmla="val 1519"/>
            </a:avLst>
          </a:prstGeom>
          <a:solidFill>
            <a:srgbClr val="0E20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47672"/>
            <a:ext cx="6583680" cy="3282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pyquick import Calculation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D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 = Calculation(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="B3LYP",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="6-31G*",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properties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=["mulliken_charges", "dipole"])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calc.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D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get_energy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(geometry)      # or get_grad(geom)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res.total_energy      # float, Hartree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res.gradient          # (natom,3)  — from get_grad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18120" y="1783080"/>
            <a:ext cx="3776472" cy="1097280"/>
          </a:xfrm>
          <a:prstGeom prst="roundRect">
            <a:avLst>
              <a:gd name="adj" fmla="val 75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0" y="1901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type = the method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0" y="22677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get_energy · get_grad · geo_opt. The name is the intent.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18120" y="3035808"/>
            <a:ext cx="3776472" cy="1097280"/>
          </a:xfrm>
          <a:prstGeom prst="roundRect">
            <a:avLst>
              <a:gd name="adj" fmla="val 75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 = extras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0" y="3520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Charges, MO energies, density matrix, dipole — opt 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18120" y="4288536"/>
            <a:ext cx="3776472" cy="1097280"/>
          </a:xfrm>
          <a:prstGeom prst="roundRect">
            <a:avLst>
              <a:gd name="adj" fmla="val 75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44074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= attributes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47731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Hartree floats and NumPy arrays; ask and you receive.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562356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a property you didn't request raises a clear error — telling you exactly how to enable it.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INTERESTING CHOICES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that shaped the API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0391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type = method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86968" y="262432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get_energy / get_grad / geo_opt instead of a mode flag. The Result carries exactly what that job produces.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32320" y="20391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file I/O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62432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QUICK's log goes to the null device — /dev/null, or NUL on Windows, chosen at runtime. A run leaves nothing on disk.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40507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QUICK, don't reimplement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86968" y="463600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parsing, element tables, the SCF — all come from QUICK. Python orchestrates and reshapes, nothing more.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06908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32320" y="40507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built-in serialization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56248" y="463600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gives plain floats + NumPy; users save datasets with a few lines of h5py — schema &amp; compression stay theirs.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&amp; STATUS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 back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100297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840480"/>
                <a:gridCol w="2679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 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energy + components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floats — Hartree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9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Phase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Mulliken / Löwdin charges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(natom,) array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9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Phase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 energies (alpha)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(NBSuse,) array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9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Phase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matrix (alpha)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(nbasis, nbasis) float64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9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Phase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(Z, coordinates)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arrays — from QUICK's parse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9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Phase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Dipole moment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(3,) vector — Debye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9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Phase 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(natom, 3) — Hartree/Bohr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9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Phase 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optimization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optimized coordinates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71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 Next (2.2)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Dipole folds in here — the whole property surface at a glance.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QUANTUM-CHEMISTRY SUBSTANCE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energy bookkeeping right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10233A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nuclear_repulsion  +  electronic</a:t>
            </a:r>
            <a:pPr indent="0" marL="0">
              <a:buNone/>
            </a:pPr>
            <a:r>
              <a:rPr lang="en-US" sz="1800" dirty="0">
                <a:solidFill>
                  <a:srgbClr val="9FB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 + dispersion 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electronic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one_electron  +  two_electron  +  xc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483864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33832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Renamed ECore → nuclear_repulsion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0" y="33832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core–core nuclear repulsion, not a vague “core” energy.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197096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409651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two_electron (J + K) derived exactly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0" y="4096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electronic − one_electron − xc.  No new instrumentation needed.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910328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80974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External-charge energy is reported, never summed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0" y="480974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surfaced when EXTCHARGES is set, but never folded into the total.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623560"/>
            <a:ext cx="146304" cy="14630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552297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Traced through the source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15200" y="552297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against getEnergy.f90 and the SCF operator routines.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— energies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10233A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/ STO-3G water total energy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 × 10⁻⁵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Hartree from QUICK's own reference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= −74.947863811 Ha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=  nuclear_repulsion + electronic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35040" y="2670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670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electronic  =  1e + 2e + xc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35040" y="34198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34198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  =  0   for Hartree–Fock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35040" y="4169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41696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Mulliken / Löwdin charges sum ≈ 0  (neutral)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35040" y="50292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identities hold exactly — they are bookkeeping, not fits.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612648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confirm exact numbers after rebuild ]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GET_GRAD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Gradients: energy and forces in one shot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457200" cy="45720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17556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SCF + gradient together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112264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QUICK's gradient routine runs the SCF internally — so calling get_grad gives the energy “for free.” No second SCF.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457200" cy="45720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2852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Result, both results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209544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returned Result carries the full energy breakdown and the gradient (dE/dR).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39502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 &amp; faithful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306824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recomputes; the flow mirrors QUICK's own getQuickEnergyGradients.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0" y="1783080"/>
            <a:ext cx="3822192" cy="1965960"/>
          </a:xfrm>
          <a:prstGeom prst="roundRect">
            <a:avLst>
              <a:gd name="adj" fmla="val 2791"/>
            </a:avLst>
          </a:prstGeom>
          <a:solidFill>
            <a:srgbClr val="0E2033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1947672"/>
            <a:ext cx="3364992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calc.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D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get_grad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(geom)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r.total_energy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r.gradient      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(n,3)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Ha/Bohr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3977640"/>
            <a:ext cx="3822192" cy="1737360"/>
          </a:xfrm>
          <a:prstGeom prst="roundRect">
            <a:avLst>
              <a:gd name="adj" fmla="val 473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0100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01000" y="4434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 (not “forces”)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0" y="4800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dE/dR, shape (natom, 3), Hartree/Bohr — no hidden sign flip; negate for physical force.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— gradients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10233A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difference  vs  analytic gradient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to ~2 × 10⁻³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Hartree/Bohr   (central diff, 0.005 Å step, tight SCF)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85232" cy="1965960"/>
          </a:xfrm>
          <a:prstGeom prst="roundRect">
            <a:avLst>
              <a:gd name="adj" fmla="val 4186"/>
            </a:avLst>
          </a:prstGeom>
          <a:solidFill>
            <a:srgbClr val="10233A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29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Translational invariance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39572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force  Σ ≈ 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10⁻⁴ Hartree/Bohr — a physics check the code must pass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4206240"/>
            <a:ext cx="110029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 one atom by ±h, recompute the energy, and compare (E(+h) − E(−h)) / 2h to the analytic value — component by component.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612648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confirm exact agreement + add a residual plot after rebuild ]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28016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Hydrogenation reaction energy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C₂H₄  +  H₂   →   C₂H₆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7947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7324F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160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58568" y="39319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50592" y="37947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7324F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42032" y="4160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 via RDKit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0" y="39319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06824" y="37947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7324F"/>
          </a:solidFill>
          <a:ln/>
        </p:spPr>
      </p:sp>
      <p:sp>
        <p:nvSpPr>
          <p:cNvPr id="15" name="Text 13"/>
          <p:cNvSpPr/>
          <p:nvPr/>
        </p:nvSpPr>
        <p:spPr>
          <a:xfrm>
            <a:off x="4416552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98264" y="4160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B3LYP / 6-31G*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71032" y="39319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63056" y="37947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7324F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54496" y="4160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 + decomposition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27264" y="39319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019288" y="37947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7324F"/>
          </a:solidFill>
          <a:ln/>
        </p:spPr>
      </p:sp>
      <p:sp>
        <p:nvSpPr>
          <p:cNvPr id="23" name="Text 21"/>
          <p:cNvSpPr/>
          <p:nvPr/>
        </p:nvSpPr>
        <p:spPr>
          <a:xfrm>
            <a:off x="8129016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10728" y="4160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· forces · dipole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83496" y="39319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875520" y="37947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7324F"/>
          </a:solidFill>
          <a:ln/>
        </p:spPr>
      </p:sp>
      <p:sp>
        <p:nvSpPr>
          <p:cNvPr id="27" name="Text 25"/>
          <p:cNvSpPr/>
          <p:nvPr/>
        </p:nvSpPr>
        <p:spPr>
          <a:xfrm>
            <a:off x="9985248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66960" y="4160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HDF5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src/pyquick/test/usecase1.ipynb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CASE THE LIVE RUN MISBEHAVES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backup screenshots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F1F5F9"/>
          </a:solidFill>
          <a:ln w="15875">
            <a:solidFill>
              <a:srgbClr val="D6E2E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68680" y="356616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paste: energies + reaction ΔE + decomposition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F1F5F9"/>
          </a:solidFill>
          <a:ln w="15875">
            <a:solidFill>
              <a:srgbClr val="D6E2E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92240" y="356616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paste: charges · forces · dipole + HDF5 save ]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 and kept correct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02082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91109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Test-first workflow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911096"/>
            <a:ext cx="6537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tests, review them, then implement — a pytest suite lives in src/pyquick/test/.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0392" y="307238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296265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 checks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962656"/>
            <a:ext cx="6537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vs QUICK reference · finite-difference gradients · charge sums · translational invariance.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886200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EEF4F8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" y="412394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401421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4014216"/>
            <a:ext cx="6537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Null-device picked at runtime → Linux, macOS, and Windows all supported.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937760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0392" y="517550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" y="5175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506577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5065776"/>
            <a:ext cx="6537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-DPYTHON=TRUE, f2py (meson backend); links QUICK's serial library.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931920"/>
            <a:ext cx="3291840" cy="329184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what's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17324F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✓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full energy API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✓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Dipole moment (2.0)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✓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gradients — get_grad (2.1)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17324F"/>
          </a:solidFill>
          <a:ln/>
          <a:effectLst>
            <a:outerShdw sx="100000" sy="100000" kx="0" ky="0" algn="bl" rotWithShape="0" blurRad="88900" dist="25400" dir="5400000">
              <a:srgbClr val="AEC2D2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→"/>
            </a:pPr>
            <a:r>
              <a:rPr lang="en-US" sz="15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optimization (2.2)</a:t>
            </a:r>
            <a:endParaRPr lang="en-US" sz="15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→"/>
            </a:pPr>
            <a:r>
              <a:rPr lang="en-US" sz="15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Open-shell + MP2 (Phase 3)</a:t>
            </a:r>
            <a:endParaRPr lang="en-US" sz="15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→"/>
            </a:pPr>
            <a:r>
              <a:rPr lang="en-US" sz="15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charges + Molden (Phase 4)</a:t>
            </a:r>
            <a:endParaRPr lang="en-US" sz="15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→"/>
            </a:pPr>
            <a:r>
              <a:rPr lang="en-US" sz="15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parallel (MPI-GPU in QUICK)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9436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Python surface over a fast QC engine — ready to generate ML datasets.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pyquick — a Python interface to QUICK</dc:title>
  <dc:subject>PptxGenJS Presentation</dc:subject>
  <dc:creator>pyquick</dc:creator>
  <cp:lastModifiedBy>pyquick</cp:lastModifiedBy>
  <cp:revision>1</cp:revision>
  <dcterms:created xsi:type="dcterms:W3CDTF">2026-07-10T19:49:39Z</dcterms:created>
  <dcterms:modified xsi:type="dcterms:W3CDTF">2026-07-10T19:49:39Z</dcterms:modified>
</cp:coreProperties>
</file>