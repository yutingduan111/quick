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2A47"/>
                </a:solidFill>
              </a:defRPr>
            </a:pPr>
            <a:r>
              <a:t>pyquick architecture — how the layers attach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88720" y="1143000"/>
            <a:ext cx="5120640" cy="868680"/>
          </a:xfrm>
          <a:prstGeom prst="roundRect">
            <a:avLst/>
          </a:prstGeom>
          <a:solidFill>
            <a:srgbClr val="DDECF6"/>
          </a:solidFill>
          <a:ln w="22225">
            <a:solidFill>
              <a:srgbClr val="0E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500" b="1">
                <a:solidFill>
                  <a:srgbClr val="0E2A47"/>
                </a:solidFill>
              </a:defRPr>
            </a:pPr>
            <a:r>
              <a:t>1. User</a:t>
            </a:r>
          </a:p>
          <a:p>
            <a:pPr algn="ctr">
              <a:defRPr sz="1100" b="0">
                <a:solidFill>
                  <a:srgbClr val="0E2A47"/>
                </a:solidFill>
              </a:defRPr>
            </a:pPr>
            <a:r>
              <a:t>Jupyter notebook / Python script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8720" y="2331720"/>
            <a:ext cx="5120640" cy="868680"/>
          </a:xfrm>
          <a:prstGeom prst="roundRect">
            <a:avLst/>
          </a:prstGeom>
          <a:solidFill>
            <a:srgbClr val="DDECF6"/>
          </a:solidFill>
          <a:ln w="22225">
            <a:solidFill>
              <a:srgbClr val="0E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500" b="1">
                <a:solidFill>
                  <a:srgbClr val="0E2A47"/>
                </a:solidFill>
              </a:defRPr>
            </a:pPr>
            <a:r>
              <a:t>2. Python API layer  (__init__.py)</a:t>
            </a:r>
          </a:p>
          <a:p>
            <a:pPr algn="ctr">
              <a:defRPr sz="1100" b="0">
                <a:solidFill>
                  <a:srgbClr val="0E2A47"/>
                </a:solidFill>
              </a:defRPr>
            </a:pPr>
            <a:r>
              <a:t>Calculation · Result · Job  (wraps low-level PyQuick engine)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3520439"/>
            <a:ext cx="5120640" cy="868680"/>
          </a:xfrm>
          <a:prstGeom prst="roundRect">
            <a:avLst/>
          </a:prstGeom>
          <a:solidFill>
            <a:srgbClr val="DDECF6"/>
          </a:solidFill>
          <a:ln w="22225">
            <a:solidFill>
              <a:srgbClr val="0E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500" b="1">
                <a:solidFill>
                  <a:srgbClr val="0E2A47"/>
                </a:solidFill>
              </a:defRPr>
            </a:pPr>
            <a:r>
              <a:t>3. f2py binding layer  (pyquick.f90)</a:t>
            </a:r>
          </a:p>
          <a:p>
            <a:pPr algn="ctr">
              <a:defRPr sz="1100" b="0">
                <a:solidFill>
                  <a:srgbClr val="0E2A47"/>
                </a:solidFill>
              </a:defRPr>
            </a:pPr>
            <a:r>
              <a:t>job_run  ·  job_open / job_step / job_close  →  compiled to _pyquick.so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4709159"/>
            <a:ext cx="5120640" cy="868680"/>
          </a:xfrm>
          <a:prstGeom prst="roundRect">
            <a:avLst/>
          </a:prstGeom>
          <a:solidFill>
            <a:srgbClr val="FFEED5"/>
          </a:solidFill>
          <a:ln w="22225">
            <a:solidFill>
              <a:srgbClr val="C86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500" b="1">
                <a:solidFill>
                  <a:srgbClr val="7A3E00"/>
                </a:solidFill>
              </a:defRPr>
            </a:pPr>
            <a:r>
              <a:t>4. QUICK library  (libquick)</a:t>
            </a:r>
          </a:p>
          <a:p>
            <a:pPr algn="ctr">
              <a:defRPr sz="1100" b="0">
                <a:solidFill>
                  <a:srgbClr val="7A3E00"/>
                </a:solidFill>
              </a:defRPr>
            </a:pPr>
            <a:r>
              <a:t>SCF (getEnergy) · gradients · optimizer (DL-Find / lopt) · basis · integrals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49039" y="2011680"/>
            <a:ext cx="0" cy="32004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749039" y="3200400"/>
            <a:ext cx="0" cy="320039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749039" y="4389120"/>
            <a:ext cx="0" cy="320039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eft Brace 9"/>
          <p:cNvSpPr/>
          <p:nvPr/>
        </p:nvSpPr>
        <p:spPr>
          <a:xfrm>
            <a:off x="6629399" y="2766060"/>
            <a:ext cx="201168" cy="2377439"/>
          </a:xfrm>
          <a:prstGeom prst="leftBrace">
            <a:avLst/>
          </a:prstGeom>
          <a:noFill/>
          <a:ln w="222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85431" y="3634739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i="1" b="0">
                <a:solidFill>
                  <a:srgbClr val="2E7D32"/>
                </a:solidFill>
              </a:defRPr>
            </a:pPr>
            <a:r>
              <a:t>in-memory transfer</a:t>
            </a:r>
            <a:br/>
            <a:r>
              <a:t>(no files, no parsing)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3634739"/>
            <a:ext cx="1737360" cy="640080"/>
          </a:xfrm>
          <a:prstGeom prst="roundRect">
            <a:avLst/>
          </a:prstGeom>
          <a:solidFill>
            <a:srgbClr val="F0F0F0"/>
          </a:solidFill>
          <a:ln w="222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200" b="1">
                <a:solidFill>
                  <a:srgbClr val="222222"/>
                </a:solidFill>
              </a:defRPr>
            </a:pPr>
            <a:r>
              <a:t>log file</a:t>
            </a:r>
          </a:p>
          <a:p>
            <a:pPr algn="ctr">
              <a:defRPr sz="950" b="0">
                <a:solidFill>
                  <a:srgbClr val="222222"/>
                </a:solidFill>
              </a:defRPr>
            </a:pPr>
            <a:r>
              <a:t>&lt;name&gt;.out  (default on)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309359" y="3954779"/>
            <a:ext cx="2011681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321040" y="4293107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 b="0">
                <a:solidFill>
                  <a:srgbClr val="555555"/>
                </a:solidFill>
              </a:defRPr>
            </a:pPr>
            <a:r>
              <a:t>log=False → null device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4663440"/>
            <a:ext cx="1828800" cy="960120"/>
          </a:xfrm>
          <a:prstGeom prst="roundRect">
            <a:avLst/>
          </a:prstGeom>
          <a:solidFill>
            <a:srgbClr val="EAE2F7"/>
          </a:solidFill>
          <a:ln w="22225">
            <a:solidFill>
              <a:srgbClr val="6A3DB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300" b="1">
                <a:solidFill>
                  <a:srgbClr val="402370"/>
                </a:solidFill>
              </a:defRPr>
            </a:pPr>
            <a:r>
              <a:t>GPU</a:t>
            </a:r>
          </a:p>
          <a:p>
            <a:pPr algn="ctr">
              <a:defRPr sz="950" b="0">
                <a:solidFill>
                  <a:srgbClr val="402370"/>
                </a:solidFill>
              </a:defRPr>
            </a:pPr>
            <a:r>
              <a:t>libquick_cuda / libquick_hip</a:t>
            </a:r>
            <a:br/>
            <a:r>
              <a:t>#if defined(GPU)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309359" y="5143499"/>
            <a:ext cx="2011681" cy="1"/>
          </a:xfrm>
          <a:prstGeom prst="line">
            <a:avLst/>
          </a:prstGeom>
          <a:ln w="22225">
            <a:solidFill>
              <a:srgbClr val="6A3DB5"/>
            </a:solidFill>
            <a:headEnd type="triangle" w="med" len="med"/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321040" y="566928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 b="0">
                <a:solidFill>
                  <a:srgbClr val="6A3DB5"/>
                </a:solidFill>
              </a:defRPr>
            </a:pPr>
            <a:r>
              <a:t>same Fortran calls, swapped</a:t>
            </a:r>
            <a:br/>
            <a:r>
              <a:t>at build time (compile-time only)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7150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i="1" b="0">
                <a:solidFill>
                  <a:srgbClr val="555555"/>
                </a:solidFill>
              </a:defRPr>
            </a:pPr>
            <a:r>
              <a:t>No MPI / GPU-MPI in this diagram — single-GPU only, per current scope.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